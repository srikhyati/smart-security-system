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89" r:id="rId3"/>
    <p:sldId id="301" r:id="rId4"/>
    <p:sldId id="302" r:id="rId5"/>
    <p:sldId id="321" r:id="rId6"/>
    <p:sldId id="317" r:id="rId7"/>
    <p:sldId id="272" r:id="rId8"/>
    <p:sldId id="304" r:id="rId9"/>
    <p:sldId id="309" r:id="rId10"/>
    <p:sldId id="311" r:id="rId11"/>
    <p:sldId id="305" r:id="rId12"/>
    <p:sldId id="306" r:id="rId13"/>
    <p:sldId id="307" r:id="rId14"/>
    <p:sldId id="310" r:id="rId15"/>
    <p:sldId id="318" r:id="rId16"/>
    <p:sldId id="316" r:id="rId17"/>
    <p:sldId id="319" r:id="rId18"/>
    <p:sldId id="320" r:id="rId19"/>
    <p:sldId id="312" r:id="rId20"/>
    <p:sldId id="313" r:id="rId21"/>
    <p:sldId id="314" r:id="rId22"/>
    <p:sldId id="31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340128-6B15-4373-8BBD-BC5348499A21}">
          <p14:sldIdLst>
            <p14:sldId id="257"/>
            <p14:sldId id="289"/>
            <p14:sldId id="301"/>
            <p14:sldId id="302"/>
            <p14:sldId id="321"/>
            <p14:sldId id="317"/>
            <p14:sldId id="272"/>
            <p14:sldId id="304"/>
            <p14:sldId id="309"/>
            <p14:sldId id="311"/>
            <p14:sldId id="305"/>
            <p14:sldId id="306"/>
            <p14:sldId id="307"/>
            <p14:sldId id="310"/>
            <p14:sldId id="318"/>
            <p14:sldId id="316"/>
            <p14:sldId id="319"/>
            <p14:sldId id="320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CC00CC"/>
    <a:srgbClr val="FFFF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810" autoAdjust="0"/>
  </p:normalViewPr>
  <p:slideViewPr>
    <p:cSldViewPr snapToGrid="0" showGuides="1">
      <p:cViewPr varScale="1">
        <p:scale>
          <a:sx n="72" d="100"/>
          <a:sy n="72" d="100"/>
        </p:scale>
        <p:origin x="42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Sensors collect environmental data. ESP32 processes sensor inputs. Events are transmitted through Wi-Fi. FIWARE stores and manages context information. Dashboard displays real-time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51814-3B91-4036-94D2-3977634EE21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15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8678-ABA5-E404-93CF-B5E32479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E5D99-7968-62EC-61FA-BA2461E3E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81869-1153-5677-47C7-B0C9E8A6E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Sensors collect environmental data. ESP32 processes sensor inputs. Events are transmitted through Wi-Fi. FIWARE stores and manages context information. Dashboard displays real-time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C48B2-5EE3-5021-2A16-23D484063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51814-3B91-4036-94D2-3977634EE21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81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45C4341-550C-9456-D6DC-34709315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1" t="1" r="11837" b="-3"/>
          <a:stretch>
            <a:fillRect/>
          </a:stretch>
        </p:blipFill>
        <p:spPr>
          <a:xfrm>
            <a:off x="551526" y="0"/>
            <a:ext cx="6034088" cy="6857989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66683"/>
            <a:ext cx="4986338" cy="2355203"/>
          </a:xfrm>
        </p:spPr>
        <p:txBody>
          <a:bodyPr anchor="b">
            <a:normAutofit/>
          </a:bodyPr>
          <a:lstStyle/>
          <a:p>
            <a:r>
              <a:rPr lang="en-US" dirty="0"/>
              <a:t>Smart Security System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3281095"/>
            <a:ext cx="4986338" cy="2873326"/>
          </a:xfrm>
        </p:spPr>
        <p:txBody>
          <a:bodyPr>
            <a:normAutofit/>
          </a:bodyPr>
          <a:lstStyle/>
          <a:p>
            <a:r>
              <a:rPr lang="en-US" sz="2200" b="1" dirty="0"/>
              <a:t>Team Members: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SriKhyati Boppana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Gnanaprakash Mohana </a:t>
            </a:r>
            <a:r>
              <a:rPr lang="en-US" sz="2200" dirty="0" err="1"/>
              <a:t>Rengan</a:t>
            </a:r>
            <a:endParaRPr lang="en-US" sz="2200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algn="ctr">
              <a:lnSpc>
                <a:spcPct val="120000"/>
              </a:lnSpc>
            </a:pPr>
            <a:r>
              <a:rPr lang="en-IN" sz="2200" dirty="0" err="1">
                <a:latin typeface="+mj-lt"/>
              </a:rPr>
              <a:t>Institut</a:t>
            </a:r>
            <a:r>
              <a:rPr lang="en-IN" sz="2200" dirty="0">
                <a:latin typeface="+mj-lt"/>
              </a:rPr>
              <a:t> für IT-Sicherheit</a:t>
            </a:r>
          </a:p>
          <a:p>
            <a:pPr algn="ctr">
              <a:lnSpc>
                <a:spcPct val="120000"/>
              </a:lnSpc>
            </a:pPr>
            <a:r>
              <a:rPr lang="de-DE" sz="2000" dirty="0">
                <a:latin typeface="+mj-lt"/>
              </a:rPr>
              <a:t>Lübeck, 08.07.2026</a:t>
            </a:r>
            <a:endParaRPr lang="en-IN" sz="2000" dirty="0">
              <a:latin typeface="+mj-lt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Slide Number Placeholder 3" hidden="1">
            <a:extLst>
              <a:ext uri="{FF2B5EF4-FFF2-40B4-BE49-F238E27FC236}">
                <a16:creationId xmlns:a16="http://schemas.microsoft.com/office/drawing/2014/main" id="{0B14C297-3BD8-2205-CAE5-86BA5D865A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pPr>
              <a:spcAft>
                <a:spcPts val="600"/>
              </a:spcAft>
            </a:pPr>
            <a:fld id="{03DC2DEF-D2FE-4B45-ABA4-9F153FD1C98A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0B770E-507E-4361-9D91-5007702BFC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kumimoji="0" lang="en-US" sz="3200" b="1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BEE08E-D5C0-42E2-AB73-7CCC07B7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348144"/>
            <a:ext cx="11520487" cy="52495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Smart Security System is an IoT-based solution designed to enhance security and safety in indoor environments.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uses an ESP32 microcontroller connected to multiple sensors and actuators to: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Detect unauthorized motion using a PIR sensor.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Trigger local alarms using a buzzer.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Monitor ambient temperature.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Allow secure access using a keypad.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Send real-time sensor data to the FIWARE Orion Context Broker.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remote monitoring through cloud-based dashboards.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 IoT concepts including sensing, communication, cloud integration, real-time monitoring, and event-driven automation.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7281-A5A7-6B04-CCBF-3605E41D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195021-65C0-D9BB-9EB4-7B312FDDA00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kumimoji="0" lang="en-US" sz="3200" b="1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525F12C-D9C3-73F9-BB9B-3A2F420D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35525"/>
            <a:ext cx="11520487" cy="52495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Traditional security systems are often expensive and lack flexibility.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Intrusion detection requires continuous monitoring.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anomalies may indicate fire hazards.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Unauthorized access should trigger alerts immediately.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Users need real-time visibility into security events.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Our solution addresses these issues through a low-cost IoT architecture based on ESP32 and FIWARE.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6104E-3DC0-62FB-3795-64BB5DF0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21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4F27-300C-3349-928F-E3513BB78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755830-F10D-61FB-365D-7BE55699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E5A2-6F45-99F7-0EBD-9A9EEBF2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z="2000" smtClean="0"/>
              <a:pPr/>
              <a:t>4</a:t>
            </a:fld>
            <a:endParaRPr lang="en-US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57A92A-B57A-01B6-C26A-669A5B4006CD}"/>
              </a:ext>
            </a:extLst>
          </p:cNvPr>
          <p:cNvSpPr/>
          <p:nvPr/>
        </p:nvSpPr>
        <p:spPr>
          <a:xfrm>
            <a:off x="4179869" y="1524850"/>
            <a:ext cx="3832261" cy="45514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53DDE8E2-969F-1965-AC75-D248134B607E}"/>
              </a:ext>
            </a:extLst>
          </p:cNvPr>
          <p:cNvSpPr txBox="1">
            <a:spLocks/>
          </p:cNvSpPr>
          <p:nvPr/>
        </p:nvSpPr>
        <p:spPr>
          <a:xfrm>
            <a:off x="671781" y="1804506"/>
            <a:ext cx="314325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Security Objectives</a:t>
            </a:r>
          </a:p>
          <a:p>
            <a:pPr marL="0" indent="0"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Detect human motion in monitored areas.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Trigger alarms upon intrusion.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Authenticate users through a keypad.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145029EC-91BE-E077-1DD6-379E47A5BF91}"/>
              </a:ext>
            </a:extLst>
          </p:cNvPr>
          <p:cNvSpPr txBox="1">
            <a:spLocks/>
          </p:cNvSpPr>
          <p:nvPr/>
        </p:nvSpPr>
        <p:spPr>
          <a:xfrm>
            <a:off x="8449166" y="1691057"/>
            <a:ext cx="3256265" cy="423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IoT Objectives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Connect devices to Wi-Fi.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Integrate with FIWARE Orion Context Broker.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Visualize data remotely.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Demonstrate real-time IoT communication.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9D65DB-4D66-E3D4-AFBE-9A6BA109710D}"/>
              </a:ext>
            </a:extLst>
          </p:cNvPr>
          <p:cNvSpPr txBox="1"/>
          <p:nvPr/>
        </p:nvSpPr>
        <p:spPr>
          <a:xfrm>
            <a:off x="4418770" y="1705076"/>
            <a:ext cx="34258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Objectives</a:t>
            </a:r>
          </a:p>
          <a:p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Continuously monitor room temperature.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sensor readings to the cloud.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263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1617-836D-7716-4779-BDA6F158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43F0-7D66-58F9-B369-6C3ED71F5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55430"/>
            <a:ext cx="11520487" cy="49434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Home Security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Office Security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Laboratory &amp; Server Room Monitoring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Warehouse Monitoring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Healthcare &amp; Pharmacy Storage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Educational Institutions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Remote IoT Monitoring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F56A8-6247-B699-512A-72086BD4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36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8F28-6988-B6AF-00FA-DC892290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037D26-C28C-87CC-D222-76666E3FA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971" y="1376101"/>
            <a:ext cx="9777275" cy="48147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B8429-64CA-9B94-EBA4-67DADDBA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50657FC-59A7-D39B-2B80-9A3453155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1975"/>
          <a:stretch>
            <a:fillRect/>
          </a:stretch>
        </p:blipFill>
        <p:spPr>
          <a:xfrm>
            <a:off x="444310" y="1162489"/>
            <a:ext cx="11333833" cy="534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F92B-2777-4565-3011-3BD34C86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Hardware Components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2B9F9B-02FF-5A06-1DDC-56B249806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914570"/>
              </p:ext>
            </p:extLst>
          </p:nvPr>
        </p:nvGraphicFramePr>
        <p:xfrm>
          <a:off x="371475" y="1666976"/>
          <a:ext cx="11520488" cy="4267200"/>
        </p:xfrm>
        <a:graphic>
          <a:graphicData uri="http://schemas.openxmlformats.org/drawingml/2006/table">
            <a:tbl>
              <a:tblPr/>
              <a:tblGrid>
                <a:gridCol w="5760244">
                  <a:extLst>
                    <a:ext uri="{9D8B030D-6E8A-4147-A177-3AD203B41FA5}">
                      <a16:colId xmlns:a16="http://schemas.microsoft.com/office/drawing/2014/main" val="2903299917"/>
                    </a:ext>
                  </a:extLst>
                </a:gridCol>
                <a:gridCol w="5760244">
                  <a:extLst>
                    <a:ext uri="{9D8B030D-6E8A-4147-A177-3AD203B41FA5}">
                      <a16:colId xmlns:a16="http://schemas.microsoft.com/office/drawing/2014/main" val="3025847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 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76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 </a:t>
                      </a:r>
                      <a:r>
                        <a:rPr lang="en-IN" sz="2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DevKit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controller for sensor integration and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41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DHT11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Measures temperature and humidity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34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PIR Motion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Detects human 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676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HC-SR04 Ultrasonic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Measures object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602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4×4 Keypad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Arms and disarms the security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22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RGB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Indicates system status (armed, disarmed, alarm)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10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Buzzer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Generates audible alarm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57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Breadboard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Prototype circuit assembly without soldering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39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Jumper Wires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Electrical connections between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3726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44670-1ED0-1079-C661-903092B3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4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C95D6-3C29-26AC-83AF-5424F239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B9BE-6737-ADA6-F610-66E772FC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Fizzing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8EADD0-0C5A-3E03-A06E-42EBF7349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185" y="2030797"/>
            <a:ext cx="8345065" cy="36676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537C0-C452-2938-5E85-FC80894E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AE6C3D-3EC4-1950-5B3A-173A91DE1013}"/>
              </a:ext>
            </a:extLst>
          </p:cNvPr>
          <p:cNvSpPr/>
          <p:nvPr/>
        </p:nvSpPr>
        <p:spPr>
          <a:xfrm>
            <a:off x="9850596" y="1196435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Buzzer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981B38-8405-541A-8548-0FAD7C98B1D4}"/>
              </a:ext>
            </a:extLst>
          </p:cNvPr>
          <p:cNvSpPr/>
          <p:nvPr/>
        </p:nvSpPr>
        <p:spPr>
          <a:xfrm>
            <a:off x="7973298" y="1196436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Ultrasonic Sensor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009E30-6009-F4FB-A5A6-FBD56734CB15}"/>
              </a:ext>
            </a:extLst>
          </p:cNvPr>
          <p:cNvSpPr/>
          <p:nvPr/>
        </p:nvSpPr>
        <p:spPr>
          <a:xfrm>
            <a:off x="6096000" y="1231371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RGB 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64C5DC-DFE3-B733-E253-852FDA4548B4}"/>
              </a:ext>
            </a:extLst>
          </p:cNvPr>
          <p:cNvSpPr/>
          <p:nvPr/>
        </p:nvSpPr>
        <p:spPr>
          <a:xfrm>
            <a:off x="434393" y="2430997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Keypad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BEF847-2B9C-757F-3C39-6D9D8A0F8AAC}"/>
              </a:ext>
            </a:extLst>
          </p:cNvPr>
          <p:cNvSpPr/>
          <p:nvPr/>
        </p:nvSpPr>
        <p:spPr>
          <a:xfrm>
            <a:off x="10756303" y="3135385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PIR Sensor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9AF969-A91C-AEB9-00BA-301C8FD27C76}"/>
              </a:ext>
            </a:extLst>
          </p:cNvPr>
          <p:cNvSpPr/>
          <p:nvPr/>
        </p:nvSpPr>
        <p:spPr>
          <a:xfrm>
            <a:off x="4052364" y="1231370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DHT11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E5719D-889D-CA95-3768-C96D44B3883E}"/>
              </a:ext>
            </a:extLst>
          </p:cNvPr>
          <p:cNvSpPr/>
          <p:nvPr/>
        </p:nvSpPr>
        <p:spPr>
          <a:xfrm>
            <a:off x="5908209" y="5994749"/>
            <a:ext cx="1214044" cy="5872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ESP32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042254-F5FB-6E9B-CEF4-C76262E21B71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1648437" y="2724611"/>
            <a:ext cx="45205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8F5B5C-752A-4B31-3635-C778D560BD84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659386" y="1818599"/>
            <a:ext cx="0" cy="11996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4FDAB1-F46A-B6CF-4883-A573810624F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703022" y="1818600"/>
            <a:ext cx="255646" cy="13167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1A9AB6-D150-8EE7-B104-11AD5ABF523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123120" y="1783665"/>
            <a:ext cx="457200" cy="1479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75B37E-D8E9-7526-BF42-3B8CCC78F6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9002303" y="1783664"/>
            <a:ext cx="1455315" cy="20809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05A980-07B2-99D4-C402-20C7CD2B1572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10150679" y="3428999"/>
            <a:ext cx="605624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EBEBA4-9A9B-1EA6-9446-CD2541D20E3B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6501468" y="5389392"/>
            <a:ext cx="13763" cy="6053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92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EE9A-CADB-3DAB-0A56-627D55C2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F5BC75-BAE9-7905-4DEC-03216D62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Implemented Features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68C43-97EB-8277-1294-0CE1DA69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38AE9E-51C7-1AE1-FB2C-BCBBE471C13F}"/>
              </a:ext>
            </a:extLst>
          </p:cNvPr>
          <p:cNvSpPr/>
          <p:nvPr/>
        </p:nvSpPr>
        <p:spPr>
          <a:xfrm>
            <a:off x="4179869" y="1524850"/>
            <a:ext cx="3832261" cy="45514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1B8D95A-FEEF-948E-914B-4B18DD002754}"/>
              </a:ext>
            </a:extLst>
          </p:cNvPr>
          <p:cNvSpPr txBox="1">
            <a:spLocks/>
          </p:cNvSpPr>
          <p:nvPr/>
        </p:nvSpPr>
        <p:spPr>
          <a:xfrm>
            <a:off x="671781" y="1804506"/>
            <a:ext cx="314325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Real-Time Monitoring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🌡 Temperature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💧 Humidity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🚶 Motion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📏 Distance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2C50E68B-6DCC-E95D-F7CB-BFD913FA9A01}"/>
              </a:ext>
            </a:extLst>
          </p:cNvPr>
          <p:cNvSpPr txBox="1">
            <a:spLocks/>
          </p:cNvSpPr>
          <p:nvPr/>
        </p:nvSpPr>
        <p:spPr>
          <a:xfrm>
            <a:off x="8449166" y="1691057"/>
            <a:ext cx="3256265" cy="423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Management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☁ HTTP Communication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🗄 MySQL Storage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📊 Dashboard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5A3985-9B7F-E55E-E7C3-2AC2DE9562C1}"/>
              </a:ext>
            </a:extLst>
          </p:cNvPr>
          <p:cNvSpPr txBox="1"/>
          <p:nvPr/>
        </p:nvSpPr>
        <p:spPr>
          <a:xfrm>
            <a:off x="4418770" y="1705076"/>
            <a:ext cx="34258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Security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🔐 Arm/Disarm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Buzzer Alarm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🔴 RGB Status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539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6B86-9747-1554-3A3F-484D0705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PIR Motion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A7A2A-0EF6-3BEE-8882-61E221200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Working Principle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PIR sensor detects infrared radiation changes.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Human movement changes the IR pattern.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ESP32 receives HIGH signal.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Motion event is generated. 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Motion detected message.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Buzzer activated.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Event uploaded to FIWARE.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C6B8B-C097-5394-9E4D-9D1141F0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2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4CEB-1D14-BCC2-AAAC-D437F03B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Intrusion Alert using Keypad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C70FB-7FA9-AB70-B9D5-5EB89AA51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9"/>
            <a:ext cx="10307711" cy="4252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Feature Added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keypad introduces an authentication mechanism.</a:t>
            </a:r>
          </a:p>
          <a:p>
            <a:pPr marL="0" indent="0">
              <a:buNone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Working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User enters PIN. 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ESP32 verifies PIN. 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If PIN is correct: 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Access granted. 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Alarm disabled. 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If PIN is incorrect: 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Intrusion alert generated. 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Buzzer sounds. 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Event uploaded to FIWARE. </a:t>
            </a:r>
          </a:p>
          <a:p>
            <a:pPr marL="0" indent="0">
              <a:buNone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Prevents unauthorized access. 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Adds another security layer.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9B1D9-D579-016E-678B-AB20B25A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9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6FA3-7283-8D00-1268-2EA13521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Temperature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2E2E-B83E-BD1D-4541-B8CBDB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Feature Added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sensor continuously measures ambient temperature.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Read temperature every few seconds.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Display readings on Serial Monitor.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Send temperature values to FIWARE. 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Safety Scenario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If temperature exceeds threshold: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Warning generated.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Potential fire hazard indication.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Alert can be sent to dashboard.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AF8C9-F432-BBEC-8542-09EA82D5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67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8649-7DF0-8BB7-A8CF-BF96A0BB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BFAB-03CB-8B13-7258-EAB560A8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FIWARE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8869-632C-A15E-F8D9-76A25BE4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Why FIWARE?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FIWARE provides: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Context management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IoT data handling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Real-time updates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Open-source ecosystem</a:t>
            </a:r>
          </a:p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Orion Context Broker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Stores entities such as: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"id": "urn:ngsi-ld:MotionSensor:001",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"type": "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MotionSensor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"motion": {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"value": true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7460B-9A1A-EBCC-F156-7AC68C70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39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51B9-C39F-7D53-3A0E-BADA8E3A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BBFE-2DAE-BD73-21C0-3D38B38F4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Sensor readings are automatically stored in MySQL using Cygnus.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Stored Information: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Timestamp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Humidity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Motion Status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Armed Status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This enables historical analysis and long-term monitoring.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D601-7FD7-867A-E93B-60F357AE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709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CE7D-66F6-BD46-42C4-30349E6E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081035-00C9-706A-019F-7D2A8C26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Grafana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4982A-6CDA-7486-13BA-036A3F53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8B407-3ED1-2CB7-A05A-BE541CF04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34203408-EBC0-9736-AA0B-7F8CEE47C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1" t="30" r="121" b="188"/>
          <a:stretch>
            <a:fillRect/>
          </a:stretch>
        </p:blipFill>
        <p:spPr>
          <a:xfrm>
            <a:off x="335755" y="1233488"/>
            <a:ext cx="11556205" cy="4943474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445558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68D8-BFDF-D212-F6A3-86DD80E7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Panels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9A51-E9C4-2A5F-6CDB-4C253F56B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 Status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Displays: SYSTEM ARMED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Indicates whether the security system is active.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Intrusion Detection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Shows the latest motion detection status.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Values: SECURE or INTRUSION DETECTED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Total Intrusion Count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Displays the total number of times motion was detected.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Security analytics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Event frequency monitoring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597B-01B7-A8D9-4986-A8E3C4EB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577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96EC7-7641-5AF6-408D-77E9678A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999E-480B-79D2-C455-4521DF55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Panels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FF47F-8D91-B69C-5AD0-E22E1824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60949-34FB-C3AE-B0A8-E8FC27DB5865}"/>
              </a:ext>
            </a:extLst>
          </p:cNvPr>
          <p:cNvSpPr txBox="1"/>
          <p:nvPr/>
        </p:nvSpPr>
        <p:spPr>
          <a:xfrm>
            <a:off x="335756" y="1151453"/>
            <a:ext cx="11520487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Humidity Monitoring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Visualization Type: Gauge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Thresholds:</a:t>
            </a:r>
          </a:p>
          <a:p>
            <a:pPr indent="0" algn="l">
              <a:spcAft>
                <a:spcPts val="1200"/>
              </a:spcAft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spcAft>
                <a:spcPts val="1200"/>
              </a:spcAft>
              <a:buNone/>
            </a:pPr>
            <a:endParaRPr lang="en-IN" sz="19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spcAft>
                <a:spcPts val="1200"/>
              </a:spcAft>
              <a:buNone/>
            </a:pPr>
            <a:endParaRPr lang="en-IN" sz="19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Distance Monitoring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Visualization Type: Time Series Graph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Displays object proximity measurements from the ultrasonic sensor.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 Event Log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Contains: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Timestamp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Sensor Attribute</a:t>
            </a:r>
            <a:b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Sensor Value</a:t>
            </a:r>
          </a:p>
          <a:p>
            <a:pPr>
              <a:spcAft>
                <a:spcPts val="1200"/>
              </a:spcAft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Provides historical records of all security events.</a:t>
            </a:r>
            <a:endParaRPr lang="en-IN" sz="19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47AEB43-94EC-7EB9-7008-E4E33AA33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57872"/>
              </p:ext>
            </p:extLst>
          </p:nvPr>
        </p:nvGraphicFramePr>
        <p:xfrm>
          <a:off x="1909893" y="2026920"/>
          <a:ext cx="3836566" cy="1402080"/>
        </p:xfrm>
        <a:graphic>
          <a:graphicData uri="http://schemas.openxmlformats.org/drawingml/2006/table">
            <a:tbl>
              <a:tblPr/>
              <a:tblGrid>
                <a:gridCol w="1918283">
                  <a:extLst>
                    <a:ext uri="{9D8B030D-6E8A-4147-A177-3AD203B41FA5}">
                      <a16:colId xmlns:a16="http://schemas.microsoft.com/office/drawing/2014/main" val="2192500134"/>
                    </a:ext>
                  </a:extLst>
                </a:gridCol>
                <a:gridCol w="1918283">
                  <a:extLst>
                    <a:ext uri="{9D8B030D-6E8A-4147-A177-3AD203B41FA5}">
                      <a16:colId xmlns:a16="http://schemas.microsoft.com/office/drawing/2014/main" val="2153268398"/>
                    </a:ext>
                  </a:extLst>
                </a:gridCol>
              </a:tblGrid>
              <a:tr h="27740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116900"/>
                  </a:ext>
                </a:extLst>
              </a:tr>
              <a:tr h="27740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– 30 %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Dry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276724"/>
                  </a:ext>
                </a:extLst>
              </a:tr>
              <a:tr h="27740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– 60 %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68687"/>
                  </a:ext>
                </a:extLst>
              </a:tr>
              <a:tr h="27740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 – 100 %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</a:t>
                      </a:r>
                    </a:p>
                  </a:txBody>
                  <a:tcPr marL="82550" marR="82550" marT="38100" marB="38100" anchor="ctr">
                    <a:lnL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48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36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68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E74C-D57A-1F51-09BA-75B3E5D3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270C-33D0-24B9-30A1-6455D040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76C1-A6A3-3B6A-98FE-77EDF699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434B-7E07-B911-B3DF-5EABB49970E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95618" y="1392267"/>
            <a:ext cx="5243119" cy="4651979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Achievements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Real-time monitoring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Motion detection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Data persistence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Dashboard visualization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Historical analysis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7C27C-61CC-FF13-E58B-028216E7420B}"/>
              </a:ext>
            </a:extLst>
          </p:cNvPr>
          <p:cNvSpPr txBox="1"/>
          <p:nvPr/>
        </p:nvSpPr>
        <p:spPr>
          <a:xfrm>
            <a:off x="6493079" y="1392267"/>
            <a:ext cx="5511567" cy="46519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Modular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Low-cost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Easy to extend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Cloud-ready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824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3F08-0554-A056-898B-66048AB6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E54-7F20-796E-5FE5-4E798B20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endParaRPr lang="en-IN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3814-5569-B2F3-70EA-62E059F5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Camera integration.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Mobile notification system.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Face recognition.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RFID authentication.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SMS/Email alerts.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Cloud analytics dashboard.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Mobile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50211-EB7C-8545-41D0-31C39995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38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CF32-4F5B-C60B-462B-754D2C4B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F281-1F0F-5ED5-1788-F6695589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7B92A-27CF-512A-ECAA-D268A7968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328839"/>
            <a:ext cx="11520487" cy="49434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This project successfully demonstrates a complete IoT-based security and monitoring solution using ESP32 and FIWARE.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combines: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Motion detection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Intrusion prevention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monitoring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Cloud connectivity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Through real-time sensing, cloud integration, and event-driven responses, the project showcases practical IoT concepts applicable to smart homes, offices, laboratories, and industrial environments.</a:t>
            </a:r>
          </a:p>
          <a:p>
            <a:pPr marL="0" indent="0">
              <a:lnSpc>
                <a:spcPct val="12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addition of keypad authentication and temperature monitoring further improves both security and safety, making the system more robust and scalable for future developments.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13F69-DD51-9E92-1715-0C150294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0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CED2A-C3EB-9C4E-529A-AB33231BB4B3}"/>
              </a:ext>
            </a:extLst>
          </p:cNvPr>
          <p:cNvSpPr txBox="1"/>
          <p:nvPr/>
        </p:nvSpPr>
        <p:spPr>
          <a:xfrm>
            <a:off x="872455" y="1921079"/>
            <a:ext cx="10242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72189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1825</TotalTime>
  <Words>967</Words>
  <Application>Microsoft Office PowerPoint</Application>
  <PresentationFormat>Widescreen</PresentationFormat>
  <Paragraphs>249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Smart Security System </vt:lpstr>
      <vt:lpstr>Project Overview</vt:lpstr>
      <vt:lpstr>Problem Statement</vt:lpstr>
      <vt:lpstr>Project Objectives</vt:lpstr>
      <vt:lpstr>Use Cases</vt:lpstr>
      <vt:lpstr>System Workflow</vt:lpstr>
      <vt:lpstr>System Architecture</vt:lpstr>
      <vt:lpstr>Hardware Components</vt:lpstr>
      <vt:lpstr>Fizzing Diagram</vt:lpstr>
      <vt:lpstr>Implemented Features</vt:lpstr>
      <vt:lpstr>PIR Motion Detection</vt:lpstr>
      <vt:lpstr>Intrusion Alert using Keypad</vt:lpstr>
      <vt:lpstr>Temperature Monitoring</vt:lpstr>
      <vt:lpstr>FIWARE Integration</vt:lpstr>
      <vt:lpstr>Data Persistence</vt:lpstr>
      <vt:lpstr>Grafana Dashboard</vt:lpstr>
      <vt:lpstr>Dashboard Panels</vt:lpstr>
      <vt:lpstr>Dashboard Panels</vt:lpstr>
      <vt:lpstr>Results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SriKhyati Boppana</dc:creator>
  <cp:lastModifiedBy>SriKhyati Boppana</cp:lastModifiedBy>
  <cp:revision>7</cp:revision>
  <dcterms:created xsi:type="dcterms:W3CDTF">2026-07-06T11:23:07Z</dcterms:created>
  <dcterms:modified xsi:type="dcterms:W3CDTF">2026-07-08T07:19:06Z</dcterms:modified>
</cp:coreProperties>
</file>